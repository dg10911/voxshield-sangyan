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5C7F2"/>
                </a:solidFill>
                <a:latin typeface="Segoe UI"/>
              </a:rPr>
              <a:t>Snapdragon® AI Lab Build &amp; Present Challenge · Qualcomm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2860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Segoe UI"/>
              </a:rPr>
              <a:t>VoxShield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939EB0"/>
                </a:solidFill>
                <a:latin typeface="Segoe UI"/>
              </a:rPr>
              <a:t>Real-Time, Privacy-Preserving Voice-Clone Defense for Indian Telephony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0740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E9EDF4"/>
                </a:solidFill>
                <a:latin typeface="Segoe UI"/>
              </a:rPr>
              <a:t>A bank fraud analyst's HP Snapdragon laptop detects AI-cloned voices in real time, fully on-device on the Hexagon NPU — no call audio ever leaves the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49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E2737"/>
                </a:solidFill>
                <a:latin typeface="Consolas"/>
              </a:rPr>
              <a:t>5.9%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704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EER · deployed fusion (held-out In-the-Wild)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349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544068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E2737"/>
                </a:solidFill>
                <a:latin typeface="Consolas"/>
              </a:rPr>
              <a:t>6.8%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8704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EER · unseen-generator deepfakes (OOD, MLAAD)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349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544068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E2737"/>
                </a:solidFill>
                <a:latin typeface="Consolas"/>
              </a:rPr>
              <a:t>0.98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8704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ROC-AUC on OOD deepfakes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5349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544068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E2737"/>
                </a:solidFill>
                <a:latin typeface="Consolas"/>
              </a:rPr>
              <a:t>45–80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587044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TOPS Hexagon NPU (Snapdragon X / X2)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6E80"/>
                </a:solidFill>
                <a:latin typeface="Segoe UI"/>
              </a:rPr>
              <a:t>Devansh Goenka · on-device · private · Snapdragon NPU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The problem: cloned voices over the bank phone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39EB0"/>
                </a:solidFill>
                <a:latin typeface="Segoe UI"/>
              </a:rPr>
              <a:t>AI voice cloning is cheap and fast. In India, phone-based fraud — fake bank officials, “digital arrest” scams, relative-in-distress calls — increasingly uses synthetic voices in Indian languages over ordinary 8 kHz phone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Cloning a voice now takes seconds of reference audio.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Telephony (G.711, 8 kHz) hides the very artifacts most detectors rely on.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Sensitive customer call audio should not be shipped to a foreign cloud.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A verdict after the call ends is forensics, not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Why on-device — and why Snapdragon,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Privacy by design: raw call audio never leaves the analyst's laptop (DPDP-aligned).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Real-time: a verdict forms within the first seconds of the call, offline.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The Snapdragon Hexagon NPU (45–80 TOPS) makes local real-time speech AI practical on a laptop.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Resilient: works air-gapped, in branches with poor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VoxShield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39EB0"/>
                </a:solidFill>
                <a:latin typeface="Segoe UI"/>
              </a:rPr>
              <a:t>An on-device, Indic-first, telephony-hardened voice-deepfake detector. Given a live call it returns a calibrated LOW / MEDIUM / HIGH risk verdict with explainable reason codes — decision support for a fraud analyst, never automatic blocking.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5C7F2"/>
                </a:solidFill>
                <a:latin typeface="Segoe UI"/>
              </a:rPr>
              <a:t>OPERATIONAL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898294" cy="73152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180685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Live call</a:t>
            </a:r>
          </a:p>
        </p:txBody>
      </p:sp>
      <p:sp>
        <p:nvSpPr>
          <p:cNvPr id="10" name="Chevron 9"/>
          <p:cNvSpPr/>
          <p:nvPr/>
        </p:nvSpPr>
        <p:spPr>
          <a:xfrm>
            <a:off x="2739542" y="42336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7286" y="3977639"/>
            <a:ext cx="1898294" cy="73152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3006" y="3977639"/>
            <a:ext cx="180685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Detect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93868" y="42336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31612" y="3977639"/>
            <a:ext cx="1898294" cy="73152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7332" y="3977639"/>
            <a:ext cx="180685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Explain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48195" y="42336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85939" y="3977639"/>
            <a:ext cx="1898294" cy="73152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1659" y="3977639"/>
            <a:ext cx="180685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Risk-score</a:t>
            </a:r>
          </a:p>
        </p:txBody>
      </p:sp>
      <p:sp>
        <p:nvSpPr>
          <p:cNvPr id="19" name="Chevron 18"/>
          <p:cNvSpPr/>
          <p:nvPr/>
        </p:nvSpPr>
        <p:spPr>
          <a:xfrm>
            <a:off x="9202521" y="42336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40265" y="3977639"/>
            <a:ext cx="1898294" cy="73152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5985" y="3977639"/>
            <a:ext cx="180685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Segoe UI"/>
              </a:rPr>
              <a:t>Step-up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39EB0"/>
                </a:solidFill>
                <a:latin typeface="Segoe UI"/>
              </a:rPr>
              <a:t>Decision support for a fraud analyst — </a:t>
            </a:r>
            <a:r>
              <a:rPr sz="1300" b="1">
                <a:solidFill>
                  <a:srgbClr val="2FD07B"/>
                </a:solidFill>
                <a:latin typeface="Segoe UI"/>
              </a:rPr>
              <a:t>never automatic blocking.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9EDF4"/>
                </a:solidFill>
                <a:latin typeface="Segoe UI"/>
              </a:rPr>
              <a:t>8 kHz G.711 telephony</a:t>
            </a:r>
          </a:p>
        </p:txBody>
      </p:sp>
      <p:sp>
        <p:nvSpPr>
          <p:cNvPr id="8" name="Chevron 7"/>
          <p:cNvSpPr/>
          <p:nvPr/>
        </p:nvSpPr>
        <p:spPr>
          <a:xfrm>
            <a:off x="3278124" y="2564891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5868" y="228600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1588" y="228600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9EDF4"/>
                </a:solidFill>
                <a:latin typeface="Segoe UI"/>
              </a:rPr>
              <a:t>Silero VAD</a:t>
            </a:r>
          </a:p>
        </p:txBody>
      </p:sp>
      <p:sp>
        <p:nvSpPr>
          <p:cNvPr id="11" name="Chevron 10"/>
          <p:cNvSpPr/>
          <p:nvPr/>
        </p:nvSpPr>
        <p:spPr>
          <a:xfrm>
            <a:off x="5971031" y="2564891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228600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28600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9EDF4"/>
                </a:solidFill>
                <a:latin typeface="Segoe UI"/>
              </a:rPr>
              <a:t>3 s window · 1 s hop</a:t>
            </a:r>
          </a:p>
        </p:txBody>
      </p:sp>
      <p:sp>
        <p:nvSpPr>
          <p:cNvPr id="14" name="Chevron 13"/>
          <p:cNvSpPr/>
          <p:nvPr/>
        </p:nvSpPr>
        <p:spPr>
          <a:xfrm>
            <a:off x="8663940" y="2564891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1684" y="228600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35C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7404" y="228600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5C7F2"/>
                </a:solidFill>
                <a:latin typeface="Segoe UI"/>
              </a:rPr>
              <a:t>89-dim feature 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566160"/>
            <a:ext cx="3334512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32430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9EDF4"/>
                </a:solidFill>
                <a:latin typeface="Segoe UI"/>
              </a:rPr>
              <a:t>5-detector ensemble</a:t>
            </a:r>
          </a:p>
        </p:txBody>
      </p:sp>
      <p:sp>
        <p:nvSpPr>
          <p:cNvPr id="19" name="Chevron 18"/>
          <p:cNvSpPr/>
          <p:nvPr/>
        </p:nvSpPr>
        <p:spPr>
          <a:xfrm>
            <a:off x="4175760" y="384505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3504" y="3566160"/>
            <a:ext cx="3334512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9224" y="3566160"/>
            <a:ext cx="32430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9EDF4"/>
                </a:solidFill>
                <a:latin typeface="Segoe UI"/>
              </a:rPr>
              <a:t>Learned meta-fusion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7766303" y="384505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4048" y="3566160"/>
            <a:ext cx="3334512" cy="77724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35C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9768" y="3566160"/>
            <a:ext cx="324307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5C7F2"/>
                </a:solidFill>
                <a:latin typeface="Segoe UI"/>
              </a:rPr>
              <a:t>Calibrated risk + reason codes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9EDF4"/>
                </a:solidFill>
                <a:latin typeface="Segoe UI"/>
              </a:rPr>
              <a:t>Five complementary detectors (Acoustic DSP · wav2vec2 · XLS-R 300M · DistilHuBERT · LFCC+CQCC) combined by a learned meta-stacker with Indic / telephony 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SNAPDRAGON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Snapdragon optimisation — the on-device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5C7F2"/>
                </a:solidFill>
                <a:latin typeface="Segoe UI"/>
              </a:rPr>
              <a:t>ON-DEVICE INFERENCE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PyTorch 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3278124" y="25191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15868" y="224028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1588" y="224028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→ ONNX (INT8 quantised)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1031" y="25191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224028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24028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9EDF4"/>
                </a:solidFill>
                <a:latin typeface="Segoe UI"/>
              </a:rPr>
              <a:t>→ ONNX Runtime · QNN EP</a:t>
            </a:r>
          </a:p>
        </p:txBody>
      </p:sp>
      <p:sp>
        <p:nvSpPr>
          <p:cNvPr id="15" name="Chevron 14"/>
          <p:cNvSpPr/>
          <p:nvPr/>
        </p:nvSpPr>
        <p:spPr>
          <a:xfrm>
            <a:off x="8663940" y="2519172"/>
            <a:ext cx="219456" cy="219456"/>
          </a:xfrm>
          <a:prstGeom prst="chevron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1684" y="2240280"/>
            <a:ext cx="2436876" cy="77724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7404" y="2240280"/>
            <a:ext cx="2345436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Segoe UI"/>
              </a:rPr>
              <a:t>→ Hexagon NPU (45–80 TOPS)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05156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400">
                <a:solidFill>
                  <a:srgbClr val="E9EDF4"/>
                </a:solidFill>
                <a:latin typeface="Segoe UI"/>
              </a:rPr>
              <a:t>Compiled &amp; profiled on real Snapdragon devices via Qualcomm AI Hub (qai-hub).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400">
                <a:solidFill>
                  <a:srgbClr val="E9EDF4"/>
                </a:solidFill>
                <a:latin typeface="Segoe UI"/>
              </a:rPr>
              <a:t>On-device Windows/ARM64 app through ONNX Runtime QNN Execution Provider (onnxruntime-qnn).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400">
                <a:solidFill>
                  <a:srgbClr val="E9EDF4"/>
                </a:solidFill>
                <a:latin typeface="Segoe UI"/>
              </a:rPr>
              <a:t>Leverages the AI Hub speech ecosystem: WavLM-Base-Plus backbone + Whisper for on-device transcription.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400">
                <a:solidFill>
                  <a:srgbClr val="E9EDF4"/>
                </a:solidFill>
                <a:latin typeface="Segoe UI"/>
              </a:rPr>
              <a:t>Honest status: detector runs today on CPU/GPU; NPU port + INT8 quantisation via AI Hub is the optimisation in progress.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Evidence — measured, honestly scoped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566160" cy="566928"/>
          </a:xfrm>
          <a:prstGeom prst="roundRect">
            <a:avLst>
              <a:gd name="adj" fmla="val 6000"/>
            </a:avLst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03120"/>
            <a:ext cx="33832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Model / setting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108960" cy="566928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103120"/>
            <a:ext cx="2926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C7F2"/>
                </a:solidFill>
                <a:latin typeface="Segoe UI"/>
              </a:rPr>
              <a:t>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103120"/>
            <a:ext cx="2377440" cy="566928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C7F2"/>
                </a:solidFill>
                <a:latin typeface="Segoe UI"/>
              </a:rPr>
              <a:t>Metric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9" y="2103120"/>
            <a:ext cx="1463040" cy="566928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85247" y="2103120"/>
            <a:ext cx="128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5C7F2"/>
                </a:solidFill>
                <a:latin typeface="Segoe U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70048"/>
            <a:ext cx="356616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70048"/>
            <a:ext cx="33832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Deployed fusion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670048"/>
            <a:ext cx="310896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670048"/>
            <a:ext cx="2926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held-out In-the-Wild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2670048"/>
            <a:ext cx="237744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19" y="2670048"/>
            <a:ext cx="146304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85247" y="2670048"/>
            <a:ext cx="128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Consolas"/>
              </a:rPr>
              <a:t>5.9%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236976"/>
            <a:ext cx="356616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236976"/>
            <a:ext cx="33832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Unseen-generator deepfakes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236976"/>
            <a:ext cx="310896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236976"/>
            <a:ext cx="2926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MLAAD (OOD)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236976"/>
            <a:ext cx="237744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7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EER / AUC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19" y="3236976"/>
            <a:ext cx="146304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7" y="3236976"/>
            <a:ext cx="128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Consolas"/>
              </a:rPr>
              <a:t>6.8% / 0.98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803904"/>
            <a:ext cx="356616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803904"/>
            <a:ext cx="33832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Detector scoreboard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803904"/>
            <a:ext cx="310896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803904"/>
            <a:ext cx="2926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same eval 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803904"/>
            <a:ext cx="237744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EER single/avg/fusion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19" y="3803904"/>
            <a:ext cx="1463040" cy="566928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7" y="3803904"/>
            <a:ext cx="128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Consolas"/>
              </a:rPr>
              <a:t>16.0 / 19.1 / 5.9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4370832"/>
            <a:ext cx="356616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4370832"/>
            <a:ext cx="33832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Indic recall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4370832"/>
            <a:ext cx="310896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4370832"/>
            <a:ext cx="292607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MMS-TTS fakes (after retrain)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4370832"/>
            <a:ext cx="237744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7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9EDF4"/>
                </a:solidFill>
                <a:latin typeface="Segoe UI"/>
              </a:rPr>
              <a:t>recall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19" y="4370832"/>
            <a:ext cx="1463040" cy="566928"/>
          </a:xfrm>
          <a:prstGeom prst="rect">
            <a:avLst/>
          </a:prstGeom>
          <a:solidFill>
            <a:srgbClr val="14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7" y="4370832"/>
            <a:ext cx="1280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E2737"/>
                </a:solidFill>
                <a:latin typeface="Consolas"/>
              </a:rPr>
              <a:t>42% → 82%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36E80"/>
                </a:solidFill>
                <a:latin typeface="Segoe UI"/>
              </a:rPr>
              <a:t>EER = Equal Error Rate (lower is better) — not accuracy. In-corpus and out-of-distribution figures are reported separately and never conflated.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Deployment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Runs on an HP Snapdragon laptop — offline, private, low-power on the NPU.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No cloud dependency; no raw audio egress — architected for institutional data-governance.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Explainable analyst console: risk + per-signal reason codes (spectral, phase, prosody, breath).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Human-in-the-loop: recommends OTP / biometric / fraud-desk step-up; never auto-blocks a customer.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What makes it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63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939EB0"/>
                </a:solidFill>
                <a:latin typeface="Segoe UI"/>
              </a:rPr>
              <a:t>Cloud incumbents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39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939EB0"/>
                </a:solidFill>
                <a:latin typeface="Segoe UI"/>
              </a:rPr>
              <a:t>English-first, cloud-only, closed, black-box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905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E2737"/>
                </a:solidFill>
                <a:latin typeface="Segoe UI"/>
              </a:rPr>
              <a:t>VoxShield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39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E9EDF4"/>
                </a:solidFill>
                <a:latin typeface="Segoe UI"/>
              </a:rPr>
              <a:t>Indic-first · telephony-hardened · on-device NPU · explainable · open/measured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2627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9EB0"/>
                </a:solidFill>
                <a:latin typeface="Segoe UI"/>
              </a:rPr>
              <a:t>The contribution is the integration under one hard constraint set — Indic + narrowband + on-device + explainable + private — not a single new algorithm.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9EDF4"/>
                </a:solidFill>
                <a:latin typeface="Segoe U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Now: ONNX export + INT8 quantisation; Qualcomm AI Hub compile/profile on Snapdragon X/X2.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Next: measured on-NPU latency + power; streaming live-call demo on the laptop.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Then: more Indic languages, larger real-world corpus, challenge-response liveness.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500" b="1">
                <a:solidFill>
                  <a:srgbClr val="EE2737"/>
                </a:solidFill>
                <a:latin typeface="Segoe UI"/>
              </a:rPr>
              <a:t>▸  </a:t>
            </a:r>
            <a:r>
              <a:rPr sz="1500">
                <a:solidFill>
                  <a:srgbClr val="E9EDF4"/>
                </a:solidFill>
                <a:latin typeface="Segoe UI"/>
              </a:rPr>
              <a:t>Goal: a private, on-device fraud-screening layer for every bank branch.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E27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E2737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VoxShield Edge — private AI, on your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41A24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9EDF4"/>
                </a:solidFill>
                <a:latin typeface="Segoe UI"/>
              </a:rPr>
              <a:t>Indic-language + telephony-quality + real-time + on-device + explainable voice-deepfake detection for financial fraud — running on the Snapdragon NPU, with honest, measured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0235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2737"/>
                </a:solidFill>
                <a:latin typeface="Consolas"/>
              </a:rPr>
              <a:t>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2297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EER · deployed fusion (held-out In-the-Wild)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5029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510235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2737"/>
                </a:solidFill>
                <a:latin typeface="Consolas"/>
              </a:rPr>
              <a:t>6.8%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52297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EER · unseen-generator deepfakes (OOD, MLAAD)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29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510235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2737"/>
                </a:solidFill>
                <a:latin typeface="Consolas"/>
              </a:rPr>
              <a:t>0.98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52297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ROC-AUC on OOD deepfakes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029200"/>
            <a:ext cx="2514600" cy="868680"/>
          </a:xfrm>
          <a:prstGeom prst="roundRect">
            <a:avLst>
              <a:gd name="adj" fmla="val 6000"/>
            </a:avLst>
          </a:prstGeom>
          <a:solidFill>
            <a:srgbClr val="1B222E"/>
          </a:solidFill>
          <a:ln w="12700">
            <a:solidFill>
              <a:srgbClr val="EE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510235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2737"/>
                </a:solidFill>
                <a:latin typeface="Consolas"/>
              </a:rPr>
              <a:t>45–80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552297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939EB0"/>
                </a:solidFill>
                <a:latin typeface="Segoe UI"/>
              </a:rPr>
              <a:t>TOPS Hexagon NPU (Snapdragon X / X2)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5C7F2"/>
                </a:solidFill>
                <a:latin typeface="Segoe UI"/>
              </a:rPr>
              <a:t>Devansh Goenka · GitHub: DG10911/voxshield · devanshgoenka03@gmail.com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