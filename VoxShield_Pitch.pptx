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3A9C8"/>
                </a:solidFill>
                <a:latin typeface="Consolas"/>
              </a:rPr>
              <a:t>UCO BANK · PUNJAB &amp; SIND BANK · IIT KHARAGPUR  ·  PS2, AUDIO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317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0" b="1">
                <a:solidFill>
                  <a:srgbClr val="E8F0FF"/>
                </a:solidFill>
                <a:latin typeface="Arial"/>
              </a:rPr>
              <a:t>Vox</a:t>
            </a:r>
            <a:r>
              <a:rPr sz="8800" b="1">
                <a:solidFill>
                  <a:srgbClr val="8AB6FF"/>
                </a:solidFill>
                <a:latin typeface="Arial"/>
              </a:rPr>
              <a:t>Shield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93A9C8"/>
                </a:solidFill>
                <a:latin typeface="Arial"/>
              </a:rPr>
              <a:t>Real-time AI voice-clone detection for India's voice-first banking.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93A9C8"/>
                </a:solidFill>
                <a:latin typeface="Arial"/>
              </a:rPr>
              <a:t>One layered, honest defence: </a:t>
            </a:r>
            <a:r>
              <a:rPr sz="1800" b="1">
                <a:solidFill>
                  <a:srgbClr val="8AB6FF"/>
                </a:solidFill>
                <a:latin typeface="Arial"/>
              </a:rPr>
              <a:t>Detection · Fairness · Liveness.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212080"/>
            <a:ext cx="2011680" cy="384048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239512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2C55E"/>
                </a:solidFill>
                <a:latin typeface="Consolas"/>
              </a:rPr>
              <a:t>● TRL-5 · WORKING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5212080"/>
            <a:ext cx="2743200" cy="384048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98648" y="5239512"/>
            <a:ext cx="2560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3B82F6"/>
                </a:solidFill>
                <a:latin typeface="Consolas"/>
              </a:rPr>
              <a:t>5-MODEL META-FUSION · 5.9% EER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5212080"/>
            <a:ext cx="2834640" cy="384048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8A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79008" y="5239512"/>
            <a:ext cx="2651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AB6FF"/>
                </a:solidFill>
                <a:latin typeface="Consolas"/>
              </a:rPr>
              <a:t>FLAGS A FRAUD CALL IN 3.0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4809F"/>
                </a:solidFill>
                <a:latin typeface="Consolas"/>
              </a:rPr>
              <a:t>Team DigiSeva, SRM Institute of Science and Technology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809F"/>
                </a:solidFill>
                <a:latin typeface="Consolas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28016" cy="310896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6634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AB6FF"/>
                </a:solidFill>
                <a:latin typeface="Consolas"/>
              </a:rPr>
              <a:t>01 · THE THREAT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8F0FF"/>
                </a:solidFill>
                <a:latin typeface="Arial"/>
              </a:rPr>
              <a:t>Voice is becoming the easiest door into a bank account.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303520" cy="173736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8F0FF"/>
                </a:solidFill>
                <a:latin typeface="Arial"/>
              </a:rPr>
              <a:t>◉  Cloning is cheap &amp; instant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79191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9C8"/>
                </a:solidFill>
                <a:latin typeface="Arial"/>
              </a:rPr>
              <a:t>Consumer TTS clones a speaker from seconds of public audio, a voicemail, a social clip. The fake sounds human.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5303520" cy="173736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8F0FF"/>
                </a:solidFill>
                <a:latin typeface="Arial"/>
              </a:rPr>
              <a:t>☎  Telephony hides the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79191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9C8"/>
                </a:solidFill>
                <a:latin typeface="Arial"/>
              </a:rPr>
              <a:t>8 kHz G.711 lines smear the very artifacts most detectors rely on. Studio-trained models go blind on a real call.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86200"/>
            <a:ext cx="5303520" cy="173736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8F0FF"/>
                </a:solidFill>
                <a:latin typeface="Arial"/>
              </a:rPr>
              <a:t>⚖  English-centric models are unfair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99432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9C8"/>
                </a:solidFill>
                <a:latin typeface="Arial"/>
              </a:rPr>
              <a:t>Detectors trained on English misread Indian languages as 'synthetic', genuine customers flagged as fraud.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86200"/>
            <a:ext cx="5303520" cy="173736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114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8F0FF"/>
                </a:solidFill>
                <a:latin typeface="Arial"/>
              </a:rPr>
              <a:t>⧗  Damage happens in minutes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599432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9C8"/>
                </a:solidFill>
                <a:latin typeface="Arial"/>
              </a:rPr>
              <a:t>Voice-authorised transfers and social-engineered agents act fast. Post-call forensics is not protection.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093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B82F6"/>
                </a:solidFill>
                <a:latin typeface="Consolas"/>
              </a:rPr>
              <a:t>▸  </a:t>
            </a:r>
            <a:r>
              <a:rPr sz="1000" b="0">
                <a:solidFill>
                  <a:srgbClr val="64809F"/>
                </a:solidFill>
                <a:latin typeface="Consolas"/>
              </a:rPr>
              <a:t>Industry data. Detection alone loses to a replay attack, a clone played through a speaker launders the digital artifacts. It needs layers.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809F"/>
                </a:solidFill>
                <a:latin typeface="Consolas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28016" cy="310896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6634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AB6FF"/>
                </a:solidFill>
                <a:latin typeface="Consolas"/>
              </a:rPr>
              <a:t>02 · OUR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E8F0FF"/>
                </a:solidFill>
                <a:latin typeface="Arial"/>
              </a:rPr>
              <a:t>One layered, honest defence.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93A9C8"/>
                </a:solidFill>
                <a:latin typeface="Arial"/>
              </a:rPr>
              <a:t>VoxShield is not a model, it's defence-in-depth a bank can actually deploy and audit.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2606040" cy="310896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65176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11213A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685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3B82F6"/>
                </a:solidFill>
                <a:latin typeface="Arial"/>
              </a:rPr>
              <a:t>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B82F6"/>
                </a:solidFill>
                <a:latin typeface="Consolas"/>
              </a:rPr>
              <a:t>01 ·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3A9C8"/>
                </a:solidFill>
                <a:latin typeface="Arial"/>
              </a:rPr>
              <a:t>Five decorrelated detector families fused by a learned meta-stacker with calibrated, probability-true scores.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377440"/>
            <a:ext cx="2606040" cy="310896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3320" y="265176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11213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743200"/>
            <a:ext cx="685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22C55E"/>
                </a:solidFill>
                <a:latin typeface="Arial"/>
              </a:rPr>
              <a:t>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52044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C55E"/>
                </a:solidFill>
                <a:latin typeface="Consolas"/>
              </a:rPr>
              <a:t>02 · FAIRNESS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93192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3A9C8"/>
                </a:solidFill>
                <a:latin typeface="Arial"/>
              </a:rPr>
              <a:t>Evaluated on genuine speech in 10 Indian languages, retrained Indic-aware, stress-tested under 8 kHz telephony.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377440"/>
            <a:ext cx="2606040" cy="310896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0" y="265176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11213A"/>
          </a:solidFill>
          <a:ln w="12700">
            <a:solidFill>
              <a:srgbClr val="8A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743200"/>
            <a:ext cx="685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8AB6FF"/>
                </a:solidFill>
                <a:latin typeface="Arial"/>
              </a:rPr>
              <a:t>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52044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AB6FF"/>
                </a:solidFill>
                <a:latin typeface="Consolas"/>
              </a:rPr>
              <a:t>03 · LIVENESS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93192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3A9C8"/>
                </a:solidFill>
                <a:latin typeface="Arial"/>
              </a:rPr>
              <a:t>A random spoken-digit challenge a recording can't answer, content + liveness + timing verified together.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39" y="2377440"/>
            <a:ext cx="2606040" cy="310896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81159" y="265176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11213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59" y="2743200"/>
            <a:ext cx="685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F59E0B"/>
                </a:solidFill>
                <a:latin typeface="Arial"/>
              </a:rPr>
              <a:t>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352044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59E0B"/>
                </a:solidFill>
                <a:latin typeface="Consolas"/>
              </a:rPr>
              <a:t>04 · HONESTY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59" y="393192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3A9C8"/>
                </a:solidFill>
                <a:latin typeface="Arial"/>
              </a:rPr>
              <a:t>Plain-language reason codes on every verdict · SHA-256 audit trail · never auto-blocks, routes to step-up.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3093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B82F6"/>
                </a:solidFill>
                <a:latin typeface="Consolas"/>
              </a:rPr>
              <a:t>▸  </a:t>
            </a:r>
            <a:r>
              <a:rPr sz="1000" b="0">
                <a:solidFill>
                  <a:srgbClr val="64809F"/>
                </a:solidFill>
                <a:latin typeface="Consolas"/>
              </a:rPr>
              <a:t>The same drop-in REST API guards every surface where a voice touches the bank, IVR, phone banking, agent-assist, KYC.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809F"/>
                </a:solidFill>
                <a:latin typeface="Consolas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28016" cy="310896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6634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AB6FF"/>
                </a:solidFill>
                <a:latin typeface="Consolas"/>
              </a:rPr>
              <a:t>03 · FIVE AI MODELS, ONE 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E8F0FF"/>
                </a:solidFill>
                <a:latin typeface="Arial"/>
              </a:rPr>
              <a:t>Weak alone.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8AB6FF"/>
                </a:solidFill>
                <a:latin typeface="Arial"/>
              </a:rPr>
              <a:t>Strong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3A9C8"/>
                </a:solidFill>
                <a:latin typeface="Arial"/>
              </a:rPr>
              <a:t>Each detector fails differently. A learned stacker trusts each exactly as much as it should, even down-weighting two of its 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9C8"/>
                </a:solidFill>
                <a:latin typeface="Arial"/>
              </a:rPr>
              <a:t>Wav2Vec2, alone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377440"/>
            <a:ext cx="6035040" cy="27432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0" y="2377440"/>
            <a:ext cx="5793638" cy="274320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0" y="228600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F0FF"/>
                </a:solidFill>
                <a:latin typeface="Consolas"/>
              </a:rPr>
              <a:t>62.4% 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9504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9C8"/>
                </a:solidFill>
                <a:latin typeface="Arial"/>
              </a:rPr>
              <a:t>Acoustic DSP, alone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2980944"/>
            <a:ext cx="6035040" cy="27432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40480" y="2980944"/>
            <a:ext cx="4345228" cy="274320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889504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F0FF"/>
                </a:solidFill>
                <a:latin typeface="Consolas"/>
              </a:rPr>
              <a:t>46.9% 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93008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9C8"/>
                </a:solidFill>
                <a:latin typeface="Arial"/>
              </a:rPr>
              <a:t>LFCC+CQCC head, alone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3584448"/>
            <a:ext cx="6035040" cy="27432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40480" y="3584448"/>
            <a:ext cx="2474366" cy="274320"/>
          </a:xfrm>
          <a:prstGeom prst="roundRect">
            <a:avLst>
              <a:gd name="adj" fmla="val 6000"/>
            </a:avLst>
          </a:prstGeom>
          <a:solidFill>
            <a:srgbClr val="6480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0" y="3493008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F0FF"/>
                </a:solidFill>
                <a:latin typeface="Consolas"/>
              </a:rPr>
              <a:t>26.8% 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9651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9C8"/>
                </a:solidFill>
                <a:latin typeface="Arial"/>
              </a:rPr>
              <a:t>DistilHuBERT, alone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4187952"/>
            <a:ext cx="6035040" cy="27432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40480" y="4187952"/>
            <a:ext cx="2112263" cy="274320"/>
          </a:xfrm>
          <a:prstGeom prst="roundRect">
            <a:avLst>
              <a:gd name="adj" fmla="val 6000"/>
            </a:avLst>
          </a:prstGeom>
          <a:solidFill>
            <a:srgbClr val="6480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4096512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F0FF"/>
                </a:solidFill>
                <a:latin typeface="Consolas"/>
              </a:rPr>
              <a:t>23.0% EER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0016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9C8"/>
                </a:solidFill>
                <a:latin typeface="Arial"/>
              </a:rPr>
              <a:t>XLS-R 300M, best single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4791456"/>
            <a:ext cx="6035040" cy="27432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40480" y="4791456"/>
            <a:ext cx="1508760" cy="274320"/>
          </a:xfrm>
          <a:prstGeom prst="roundRect">
            <a:avLst>
              <a:gd name="adj" fmla="val 6000"/>
            </a:avLst>
          </a:prstGeom>
          <a:solidFill>
            <a:srgbClr val="6480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4700016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F0FF"/>
                </a:solidFill>
                <a:latin typeface="Consolas"/>
              </a:rPr>
              <a:t>16.0% EER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30352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C55E"/>
                </a:solidFill>
                <a:latin typeface="Arial"/>
              </a:rPr>
              <a:t>VoxShield meta-fusion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0" y="5394960"/>
            <a:ext cx="6035040" cy="27432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840480" y="5394960"/>
            <a:ext cx="549188" cy="274320"/>
          </a:xfrm>
          <a:prstGeom prst="roundRect">
            <a:avLst>
              <a:gd name="adj" fmla="val 6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0" y="530352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C55E"/>
                </a:solidFill>
                <a:latin typeface="Consolas"/>
              </a:rPr>
              <a:t>5.9% EER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3093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B82F6"/>
                </a:solidFill>
                <a:latin typeface="Consolas"/>
              </a:rPr>
              <a:t>▸  </a:t>
            </a:r>
            <a:r>
              <a:rPr sz="1000" b="0">
                <a:solidFill>
                  <a:srgbClr val="64809F"/>
                </a:solidFill>
                <a:latin typeface="Consolas"/>
              </a:rPr>
              <a:t>Equal-error-rate, lower is better · measured on held-out In-the-Wild data (n=320 disjoint test split). A 3× error reduction from fusion alone.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809F"/>
                </a:solidFill>
                <a:latin typeface="Consolas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28016" cy="310896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6634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AB6FF"/>
                </a:solidFill>
                <a:latin typeface="Consolas"/>
              </a:rPr>
              <a:t>04 · MEASURED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E8F0FF"/>
                </a:solidFill>
                <a:latin typeface="Arial"/>
              </a:rPr>
              <a:t>Numbers we can defend.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3A9C8"/>
                </a:solidFill>
                <a:latin typeface="Arial"/>
              </a:rPr>
              <a:t>Every figure is held-out, test clips the system never trained on. No cherry-picking, no projections dressed as measurements.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331720"/>
            <a:ext cx="137160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2C55E"/>
                </a:solidFill>
                <a:latin typeface="Consolas"/>
              </a:rPr>
              <a:t>5.9%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8F0FF"/>
                </a:solidFill>
                <a:latin typeface="Arial"/>
              </a:rPr>
              <a:t>Equal-error-rate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3A9C8"/>
                </a:solidFill>
                <a:latin typeface="Arial"/>
              </a:rPr>
              <a:t>down from 20.3% naive blend · held-out In-the-Wild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33172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2331720"/>
            <a:ext cx="137160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25146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8AB6FF"/>
                </a:solidFill>
                <a:latin typeface="Consolas"/>
              </a:rPr>
              <a:t>0.983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31089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8F0FF"/>
                </a:solidFill>
                <a:latin typeface="Arial"/>
              </a:rPr>
              <a:t>ROC 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4290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3A9C8"/>
                </a:solidFill>
                <a:latin typeface="Arial"/>
              </a:rPr>
              <a:t>near-perfect fake-vs-genuine ranking on unseen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233172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2331720"/>
            <a:ext cx="137160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4" y="25146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8AB6FF"/>
                </a:solidFill>
                <a:latin typeface="Consolas"/>
              </a:rPr>
              <a:t>93.4%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31089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8F0FF"/>
                </a:solidFill>
                <a:latin typeface="Arial"/>
              </a:rPr>
              <a:t>Accuracy @0.70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34290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3A9C8"/>
                </a:solidFill>
                <a:latin typeface="Arial"/>
              </a:rPr>
              <a:t>precision 93.5% · recall 92.9%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11480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114800"/>
            <a:ext cx="137160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976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2C55E"/>
                </a:solidFill>
                <a:latin typeface="Consolas"/>
              </a:rPr>
              <a:t>3.0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920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8F0FF"/>
                </a:solidFill>
                <a:latin typeface="Arial"/>
              </a:rPr>
              <a:t>Time-to-flag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120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3A9C8"/>
                </a:solidFill>
                <a:latin typeface="Arial"/>
              </a:rPr>
              <a:t>synthetic call flagged in streaming, well inside 10 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5112" y="411480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25112" y="4114800"/>
            <a:ext cx="137160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42976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2C55E"/>
                </a:solidFill>
                <a:latin typeface="Consolas"/>
              </a:rPr>
              <a:t>36.3→6.3%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8920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8F0FF"/>
                </a:solidFill>
                <a:latin typeface="Arial"/>
              </a:rPr>
              <a:t>Fairness FP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52120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3A9C8"/>
                </a:solidFill>
                <a:latin typeface="Arial"/>
              </a:rPr>
              <a:t>genuine Indic speech, Indic-aware + channel-aware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0144" y="411480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10144" y="4114800"/>
            <a:ext cx="137160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4464" y="42976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8AB6FF"/>
                </a:solidFill>
                <a:latin typeface="Consolas"/>
              </a:rPr>
              <a:t>5+1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4464" y="48920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8F0FF"/>
                </a:solidFill>
                <a:latin typeface="Arial"/>
              </a:rPr>
              <a:t>Fused detectors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4" y="52120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3A9C8"/>
                </a:solidFill>
                <a:latin typeface="Arial"/>
              </a:rPr>
              <a:t>one learned meta-stacker · calibrated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3093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B82F6"/>
                </a:solidFill>
                <a:latin typeface="Consolas"/>
              </a:rPr>
              <a:t>▸  </a:t>
            </a:r>
            <a:r>
              <a:rPr sz="1000" b="0">
                <a:solidFill>
                  <a:srgbClr val="64809F"/>
                </a:solidFill>
                <a:latin typeface="Consolas"/>
              </a:rPr>
              <a:t>Protocol: neural models frozen; meta-stacker trained on 480 clips, evaluated on a disjoint 320-clip split, honest cross-dataset numbers.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809F"/>
                </a:solidFill>
                <a:latin typeface="Consolas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28016" cy="310896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6634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AB6FF"/>
                </a:solidFill>
                <a:latin typeface="Consolas"/>
              </a:rPr>
              <a:t>05 · THE FAIRNESS BREAKTHROUGH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F0FF"/>
                </a:solidFill>
                <a:latin typeface="Arial"/>
              </a:rPr>
              <a:t>A detector that flags honest customers is a failed detector.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72800" cy="182880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5720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64809F"/>
                </a:solidFill>
                <a:latin typeface="Consolas"/>
              </a:rPr>
              <a:t>36.3%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651760"/>
            <a:ext cx="12801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3B82F6"/>
                </a:solidFill>
                <a:latin typeface="Arial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514600"/>
            <a:ext cx="54864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>
                <a:solidFill>
                  <a:srgbClr val="22C55E"/>
                </a:solidFill>
                <a:latin typeface="Consolas"/>
              </a:rPr>
              <a:t>6.3%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11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3A9C8"/>
                </a:solidFill>
                <a:latin typeface="Arial"/>
              </a:rPr>
              <a:t>False-positive rate on genuine Indian-language speech, before → after Indic-aware retraining.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93A9C8"/>
                </a:solidFill>
                <a:latin typeface="Arial"/>
              </a:rPr>
              <a:t>Evaluated across 10 Indian languages (Hindi, Tamil, Bengali, Telugu, Marathi, Kannada, Malayalam, Gujarati, Punjabi, Assamese),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93A9C8"/>
                </a:solidFill>
                <a:latin typeface="Arial"/>
              </a:rPr>
              <a:t>and we publish the uncomfortable numbers too. This measured fairness is the moat a public-sector bank can actually procure.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093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B82F6"/>
                </a:solidFill>
                <a:latin typeface="Consolas"/>
              </a:rPr>
              <a:t>▸  </a:t>
            </a:r>
            <a:r>
              <a:rPr sz="1000" b="0">
                <a:solidFill>
                  <a:srgbClr val="64809F"/>
                </a:solidFill>
                <a:latin typeface="Consolas"/>
              </a:rPr>
              <a:t>Internal benchmarking · IndicVoices genuine speech · 30 clips per language · threshold 0.70.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809F"/>
                </a:solidFill>
                <a:latin typeface="Consolas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28016" cy="310896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6634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AB6FF"/>
                </a:solidFill>
                <a:latin typeface="Consolas"/>
              </a:rPr>
              <a:t>06 · BEYOND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E8F0FF"/>
                </a:solidFill>
                <a:latin typeface="Arial"/>
              </a:rPr>
              <a:t>Liveness &amp; the Digital Arrest Shield.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303520" cy="365760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8AB6FF"/>
                </a:solidFill>
                <a:latin typeface="Arial"/>
              </a:rPr>
              <a:t>◈  LIVENESS, defeats replay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11213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2C55E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9748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F"/>
                </a:solidFill>
                <a:latin typeface="Arial"/>
              </a:rPr>
              <a:t>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35808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3A9C8"/>
                </a:solidFill>
                <a:latin typeface="Arial"/>
              </a:rPr>
              <a:t>Whisper ASR, do the spoken digits match the random challenge?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1188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11213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118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2C55E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5661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F"/>
                </a:solidFill>
                <a:latin typeface="Arial"/>
              </a:rPr>
              <a:t>Liveness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904488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3A9C8"/>
                </a:solidFill>
                <a:latin typeface="Arial"/>
              </a:rPr>
              <a:t>The full ensemble scores the reply, a live human, not a synthesis engine?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48056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11213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2C55E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4348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F0FF"/>
                </a:solidFill>
                <a:latin typeface="Arial"/>
              </a:rPr>
              <a:t>Timing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73168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3A9C8"/>
                </a:solidFill>
                <a:latin typeface="Arial"/>
              </a:rPr>
              <a:t>Did the answer arrive in the challenge window? A pass needs all three.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965960"/>
            <a:ext cx="5349240" cy="365760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1945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🛡  DIGITAL ARREST SHIELD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69748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9C8"/>
                </a:solidFill>
                <a:latin typeface="Arial"/>
              </a:rPr>
              <a:t>Fuses the 5-model clone score with scam-intent read from the transcript,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9C8"/>
                </a:solidFill>
                <a:latin typeface="Arial"/>
              </a:rPr>
              <a:t>catches a cloned/social-engineered voice running the </a:t>
            </a:r>
            <a:r>
              <a:rPr sz="1250" b="1">
                <a:solidFill>
                  <a:srgbClr val="F59E0B"/>
                </a:solidFill>
                <a:latin typeface="Arial"/>
              </a:rPr>
              <a:t>digital-arrest playbook</a:t>
            </a:r>
            <a:r>
              <a:rPr sz="1250" b="0">
                <a:solidFill>
                  <a:srgbClr val="93A9C8"/>
                </a:solidFill>
                <a:latin typeface="Arial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3977639"/>
            <a:ext cx="4846320" cy="1417320"/>
          </a:xfrm>
          <a:prstGeom prst="roundRect">
            <a:avLst>
              <a:gd name="adj" fmla="val 6000"/>
            </a:avLst>
          </a:prstGeom>
          <a:solidFill>
            <a:srgbClr val="11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411480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3A9C8"/>
                </a:solidFill>
                <a:latin typeface="Consolas"/>
              </a:rPr>
              <a:t>“Officer Sharma, CBI Cybercrime…”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F4444"/>
                </a:solidFill>
                <a:latin typeface="Consolas"/>
              </a:rPr>
              <a:t>→ verdict CRITICAL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809F"/>
                </a:solidFill>
                <a:latin typeface="Consolas"/>
              </a:rPr>
              <a:t>→ clone 0.95 · scam-intent 1.0 · 14 flags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2C55E"/>
                </a:solidFill>
                <a:latin typeface="Consolas"/>
              </a:rPr>
              <a:t>→ routed to step-up · SHA-256 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093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B82F6"/>
                </a:solidFill>
                <a:latin typeface="Consolas"/>
              </a:rPr>
              <a:t>▸  </a:t>
            </a:r>
            <a:r>
              <a:rPr sz="1000" b="0">
                <a:solidFill>
                  <a:srgbClr val="64809F"/>
                </a:solidFill>
                <a:latin typeface="Consolas"/>
              </a:rPr>
              <a:t>Multilingual (Hindi / Hinglish / English) transcription. No competitor combines clone-detection with scam-intent on the live call.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809F"/>
                </a:solidFill>
                <a:latin typeface="Consolas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28016" cy="310896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6634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AB6FF"/>
                </a:solidFill>
                <a:latin typeface="Consolas"/>
              </a:rPr>
              <a:t>07 · REAL PRODUCT,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E8F0FF"/>
                </a:solidFill>
                <a:latin typeface="Arial"/>
              </a:rPr>
              <a:t>Not a deck. A working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286000" cy="713232"/>
          </a:xfrm>
          <a:prstGeom prst="roundRect">
            <a:avLst>
              <a:gd name="adj" fmla="val 6000"/>
            </a:avLst>
          </a:prstGeom>
          <a:solidFill>
            <a:srgbClr val="11213A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B82F6"/>
                </a:solidFill>
                <a:latin typeface="Consolas"/>
              </a:rPr>
              <a:t>CHANNELS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965960"/>
            <a:ext cx="8412480" cy="713232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965960"/>
            <a:ext cx="8046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9C8"/>
                </a:solidFill>
                <a:latin typeface="Arial"/>
              </a:rPr>
              <a:t>Operator console · Live 2-party call · Liveness · Bank demo · IVR / 8 kHz G.711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2432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3B82F6"/>
                </a:solidFill>
                <a:latin typeface="Arial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07208"/>
            <a:ext cx="2286000" cy="713232"/>
          </a:xfrm>
          <a:prstGeom prst="roundRect">
            <a:avLst>
              <a:gd name="adj" fmla="val 6000"/>
            </a:avLst>
          </a:prstGeom>
          <a:solidFill>
            <a:srgbClr val="11213A"/>
          </a:solidFill>
          <a:ln w="12700">
            <a:solidFill>
              <a:srgbClr val="8A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07208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AB6FF"/>
                </a:solidFill>
                <a:latin typeface="Consolas"/>
              </a:rPr>
              <a:t>API, FastAPI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2807208"/>
            <a:ext cx="8412480" cy="713232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807208"/>
            <a:ext cx="8046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9C8"/>
                </a:solidFill>
                <a:latin typeface="Arial"/>
              </a:rPr>
              <a:t>/analyze · /stream-analyze · /analyze-call · /liveness · /tts · WS /ws/call · /docs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465576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3B82F6"/>
                </a:solidFill>
                <a:latin typeface="Arial"/>
              </a:rP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48456"/>
            <a:ext cx="2286000" cy="713232"/>
          </a:xfrm>
          <a:prstGeom prst="roundRect">
            <a:avLst>
              <a:gd name="adj" fmla="val 6000"/>
            </a:avLst>
          </a:prstGeom>
          <a:solidFill>
            <a:srgbClr val="11213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48456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C55E"/>
                </a:solidFill>
                <a:latin typeface="Consolas"/>
              </a:rPr>
              <a:t>CORE ENGINE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3648456"/>
            <a:ext cx="8412480" cy="713232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3648456"/>
            <a:ext cx="8046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9C8"/>
                </a:solidFill>
                <a:latin typeface="Arial"/>
              </a:rPr>
              <a:t>Sliding windows → 89-dim feature bank → 5 detectors → meta-fusion → reason codes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06824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3B82F6"/>
                </a:solidFill>
                <a:latin typeface="Arial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89704"/>
            <a:ext cx="2286000" cy="713232"/>
          </a:xfrm>
          <a:prstGeom prst="roundRect">
            <a:avLst>
              <a:gd name="adj" fmla="val 6000"/>
            </a:avLst>
          </a:prstGeom>
          <a:solidFill>
            <a:srgbClr val="11213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89704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59E0B"/>
                </a:solidFill>
                <a:latin typeface="Consolas"/>
              </a:rPr>
              <a:t>TRUST &amp;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08960" y="4489704"/>
            <a:ext cx="8412480" cy="713232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4489704"/>
            <a:ext cx="8046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9C8"/>
                </a:solidFill>
                <a:latin typeface="Arial"/>
              </a:rPr>
              <a:t>SHA-256 audit ledger · action log · step-up routing · auditable JSON artifacts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148072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3B82F6"/>
                </a:solidFill>
                <a:latin typeface="Arial"/>
              </a:rPr>
              <a:t>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330952"/>
            <a:ext cx="2286000" cy="713232"/>
          </a:xfrm>
          <a:prstGeom prst="roundRect">
            <a:avLst>
              <a:gd name="adj" fmla="val 6000"/>
            </a:avLst>
          </a:prstGeom>
          <a:solidFill>
            <a:srgbClr val="11213A"/>
          </a:solidFill>
          <a:ln w="12700">
            <a:solidFill>
              <a:srgbClr val="93A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330952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93A9C8"/>
                </a:solidFill>
                <a:latin typeface="Consolas"/>
              </a:rPr>
              <a:t>OPS &amp; SCALE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0" y="5330952"/>
            <a:ext cx="8412480" cy="713232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5330952"/>
            <a:ext cx="8046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9C8"/>
                </a:solidFill>
                <a:latin typeface="Arial"/>
              </a:rPr>
              <a:t>Docker (models baked in) · stateless · GPU sub-sec / CPU 3-8 s · on-prem / air-gapped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809F"/>
                </a:solidFill>
                <a:latin typeface="Consolas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28016" cy="310896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6634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AB6FF"/>
                </a:solidFill>
                <a:latin typeface="Consolas"/>
              </a:rPr>
              <a:t>08 · THE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E8F0FF"/>
                </a:solidFill>
                <a:latin typeface="Arial"/>
              </a:rPr>
              <a:t>What a single-model API can't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809F"/>
                </a:solidFill>
                <a:latin typeface="Consolas"/>
              </a:rPr>
              <a:t>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9202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809F"/>
                </a:solidFill>
                <a:latin typeface="Consolas"/>
              </a:rPr>
              <a:t>TYPICAL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920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8AB6FF"/>
                </a:solidFill>
                <a:latin typeface="Consolas"/>
              </a:rPr>
              <a:t>VOXSHIELD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04288"/>
            <a:ext cx="10927080" cy="45720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F0FF"/>
                </a:solidFill>
                <a:latin typeface="Arial"/>
              </a:rPr>
              <a:t>Decorrelated multi-model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331720"/>
            <a:ext cx="30175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809F"/>
                </a:solidFill>
                <a:latin typeface="Arial"/>
              </a:rPr>
              <a:t>✕ one model, one blind spot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331720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C55E"/>
                </a:solidFill>
                <a:latin typeface="Arial"/>
              </a:rPr>
              <a:t>✓ five families + learned stacker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16352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F0FF"/>
                </a:solidFill>
                <a:latin typeface="Arial"/>
              </a:rPr>
              <a:t>Calibrated probabilities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816352"/>
            <a:ext cx="30175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809F"/>
                </a:solidFill>
                <a:latin typeface="Arial"/>
              </a:rPr>
              <a:t>✕ raw scores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816352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C55E"/>
                </a:solidFill>
                <a:latin typeface="Arial"/>
              </a:rPr>
              <a:t>✓ Platt-calibrated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73552"/>
            <a:ext cx="10927080" cy="45720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300984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F0FF"/>
                </a:solidFill>
                <a:latin typeface="Arial"/>
              </a:rPr>
              <a:t>Explainable verdicts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300984"/>
            <a:ext cx="30175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809F"/>
                </a:solidFill>
                <a:latin typeface="Arial"/>
              </a:rPr>
              <a:t>✕ black 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300984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C55E"/>
                </a:solidFill>
                <a:latin typeface="Arial"/>
              </a:rPr>
              <a:t>✓ SSL · PH · HF · PR · BR reason codes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85615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F0FF"/>
                </a:solidFill>
                <a:latin typeface="Arial"/>
              </a:rPr>
              <a:t>Indian-language fairness, measured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785615"/>
            <a:ext cx="30175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809F"/>
                </a:solidFill>
                <a:latin typeface="Arial"/>
              </a:rPr>
              <a:t>✕ English-centric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785615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C55E"/>
                </a:solidFill>
                <a:latin typeface="Arial"/>
              </a:rPr>
              <a:t>✓ 10 languages, FP rates published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42816"/>
            <a:ext cx="10927080" cy="45720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270248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F0FF"/>
                </a:solidFill>
                <a:latin typeface="Arial"/>
              </a:rPr>
              <a:t>Replay-attack defence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4270248"/>
            <a:ext cx="30175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809F"/>
                </a:solidFill>
                <a:latin typeface="Arial"/>
              </a:rPr>
              <a:t>✕ detection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270248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C55E"/>
                </a:solidFill>
                <a:latin typeface="Arial"/>
              </a:rPr>
              <a:t>✓ challenge-response liveness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754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F0FF"/>
                </a:solidFill>
                <a:latin typeface="Arial"/>
              </a:rPr>
              <a:t>Verdict inside the live call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4754880"/>
            <a:ext cx="30175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809F"/>
                </a:solidFill>
                <a:latin typeface="Arial"/>
              </a:rPr>
              <a:t>, upload after the fact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754880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C55E"/>
                </a:solidFill>
                <a:latin typeface="Arial"/>
              </a:rPr>
              <a:t>✓ streaming, flagged at 3.0 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212080"/>
            <a:ext cx="10927080" cy="45720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239512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F0FF"/>
                </a:solidFill>
                <a:latin typeface="Arial"/>
              </a:rPr>
              <a:t>On-prem / air-gapped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5239512"/>
            <a:ext cx="30175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809F"/>
                </a:solidFill>
                <a:latin typeface="Arial"/>
              </a:rPr>
              <a:t>✕ cloud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239512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C55E"/>
                </a:solidFill>
                <a:latin typeface="Arial"/>
              </a:rPr>
              <a:t>✓ models baked into Docker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724144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F0FF"/>
                </a:solidFill>
                <a:latin typeface="Arial"/>
              </a:rPr>
              <a:t>Customer-safety guarantee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5724144"/>
            <a:ext cx="30175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809F"/>
                </a:solidFill>
                <a:latin typeface="Arial"/>
              </a:rPr>
              <a:t>, score, then your problem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5724144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C55E"/>
                </a:solidFill>
                <a:latin typeface="Arial"/>
              </a:rPr>
              <a:t>✓ never auto-block, step-up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3093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B82F6"/>
                </a:solidFill>
                <a:latin typeface="Consolas"/>
              </a:rPr>
              <a:t>▸  </a:t>
            </a:r>
            <a:r>
              <a:rPr sz="1000" b="0">
                <a:solidFill>
                  <a:srgbClr val="64809F"/>
                </a:solidFill>
                <a:latin typeface="Consolas"/>
              </a:rPr>
              <a:t>Architecture comparison against the common commercial pattern, a single neural detector behind a cloud endpoint. Not a benchmark of any vendor.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809F"/>
                </a:solidFill>
                <a:latin typeface="Consolas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28016" cy="310896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6634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AB6FF"/>
                </a:solidFill>
                <a:latin typeface="Consolas"/>
              </a:rPr>
              <a:t>09 · THE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E8F0FF"/>
                </a:solidFill>
                <a:latin typeface="Arial"/>
              </a:rPr>
              <a:t>India's banking future is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8AB6FF"/>
                </a:solidFill>
                <a:latin typeface="Arial"/>
              </a:rPr>
              <a:t>voice-first.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3A9C8"/>
                </a:solidFill>
                <a:latin typeface="Arial"/>
              </a:rPr>
              <a:t>Phone banking, IVR and voice-led payments reach millions that apps never will, across languages, literacy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3A9C8"/>
                </a:solidFill>
                <a:latin typeface="Arial"/>
              </a:rPr>
              <a:t>levels and feature phones. Every one of those calls is a voice-cloning attack surface that must be trusted.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26080"/>
            <a:ext cx="3474720" cy="246888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8F0FF"/>
                </a:solidFill>
                <a:latin typeface="Arial"/>
              </a:rPr>
              <a:t>◎  The channel banks can't abandon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3A9C8"/>
                </a:solidFill>
                <a:latin typeface="Arial"/>
              </a:rPr>
              <a:t>Voice is the default banking interface for millions, and the first channel cloning attacks target. Table stakes for every call centre.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926080"/>
            <a:ext cx="3474720" cy="246888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31546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8F0FF"/>
                </a:solidFill>
                <a:latin typeface="Arial"/>
              </a:rPr>
              <a:t>⚖  Fairness is the moat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3977639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3A9C8"/>
                </a:solidFill>
                <a:latin typeface="Arial"/>
              </a:rPr>
              <a:t>Anyone can wrap an English deepfake model in an API. Measured fairness across 10 Indian languages is what a public-sector bank can procure.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2926080"/>
            <a:ext cx="3474720" cy="246888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1546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8F0FF"/>
                </a:solidFill>
                <a:latin typeface="Arial"/>
              </a:rPr>
              <a:t>⬡  Beyond banking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3977639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3A9C8"/>
                </a:solidFill>
                <a:latin typeface="Arial"/>
              </a:rPr>
              <a:t>Same engine: government helplines, telecom anti-vishing, KYC re-verification, courtroom audio forensics, media verification.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809F"/>
                </a:solidFill>
                <a:latin typeface="Consolas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28016" cy="310896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6634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AB6FF"/>
                </a:solidFill>
                <a:latin typeface="Consolas"/>
              </a:rPr>
              <a:t>10 · DEPLOYMENT &amp;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F0FF"/>
                </a:solidFill>
                <a:latin typeface="Arial"/>
              </a:rPr>
              <a:t>Built for a bank's basement, not our cloud.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2359152"/>
            <a:ext cx="640080" cy="640080"/>
          </a:xfrm>
          <a:prstGeom prst="roundRect">
            <a:avLst>
              <a:gd name="adj" fmla="val 6000"/>
            </a:avLst>
          </a:prstGeom>
          <a:solidFill>
            <a:srgbClr val="11213A"/>
          </a:solidFill>
          <a:ln w="12700">
            <a:solidFill>
              <a:srgbClr val="8A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359152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8AB6FF"/>
                </a:solidFill>
                <a:latin typeface="Arial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377439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8F0FF"/>
                </a:solidFill>
                <a:latin typeface="Arial"/>
              </a:rPr>
              <a:t>SHA-256 audit trail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761487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3A9C8"/>
                </a:solidFill>
                <a:latin typeface="Arial"/>
              </a:rPr>
              <a:t>Every clip hashed for the ledger, raw audio never stored in clear.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73952" y="2359152"/>
            <a:ext cx="640080" cy="640080"/>
          </a:xfrm>
          <a:prstGeom prst="roundRect">
            <a:avLst>
              <a:gd name="adj" fmla="val 6000"/>
            </a:avLst>
          </a:prstGeom>
          <a:solidFill>
            <a:srgbClr val="11213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359152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2C55E"/>
                </a:solidFill>
                <a:latin typeface="Arial"/>
              </a:rPr>
              <a:t>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377439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8F0FF"/>
                </a:solidFill>
                <a:latin typeface="Arial"/>
              </a:rPr>
              <a:t>Never auto-block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761487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3A9C8"/>
                </a:solidFill>
                <a:latin typeface="Arial"/>
              </a:rPr>
              <a:t>A layered fraud signal, not a judge. No customer locked out by a model score.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" y="3913632"/>
            <a:ext cx="640080" cy="640080"/>
          </a:xfrm>
          <a:prstGeom prst="roundRect">
            <a:avLst>
              <a:gd name="adj" fmla="val 6000"/>
            </a:avLst>
          </a:prstGeom>
          <a:solidFill>
            <a:srgbClr val="11213A"/>
          </a:solidFill>
          <a:ln w="12700">
            <a:solidFill>
              <a:srgbClr val="8A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913632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8AB6FF"/>
                </a:solidFill>
                <a:latin typeface="Arial"/>
              </a:rPr>
              <a:t>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93192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8F0FF"/>
                </a:solidFill>
                <a:latin typeface="Arial"/>
              </a:rPr>
              <a:t>Explainable by default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315968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3A9C8"/>
                </a:solidFill>
                <a:latin typeface="Arial"/>
              </a:rPr>
              <a:t>Reason codes on every verdict + /why-fusion plain-language account.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65760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73952" y="3913632"/>
            <a:ext cx="640080" cy="640080"/>
          </a:xfrm>
          <a:prstGeom prst="roundRect">
            <a:avLst>
              <a:gd name="adj" fmla="val 6000"/>
            </a:avLst>
          </a:prstGeom>
          <a:solidFill>
            <a:srgbClr val="11213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913632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59E0B"/>
                </a:solidFill>
                <a:latin typeface="Arial"/>
              </a:rPr>
              <a:t>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93192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8F0FF"/>
                </a:solidFill>
                <a:latin typeface="Arial"/>
              </a:rPr>
              <a:t>Accessible &amp; compliant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315968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3A9C8"/>
                </a:solidFill>
                <a:latin typeface="Arial"/>
              </a:rPr>
              <a:t>GOV.UK / USWDS patterns, WCAG 2.1 AA, risk by icon + text, not colour.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349240"/>
            <a:ext cx="10927080" cy="868680"/>
          </a:xfrm>
          <a:prstGeom prst="roundRect">
            <a:avLst>
              <a:gd name="adj" fmla="val 6000"/>
            </a:avLst>
          </a:prstGeom>
          <a:solidFill>
            <a:srgbClr val="11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468112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4809F"/>
                </a:solidFill>
                <a:latin typeface="Consolas"/>
              </a:rPr>
              <a:t>Deploy: </a:t>
            </a:r>
            <a:r>
              <a:rPr sz="1200" b="1">
                <a:solidFill>
                  <a:srgbClr val="22C55E"/>
                </a:solidFill>
                <a:latin typeface="Consolas"/>
              </a:rPr>
              <a:t>On-prem GPU </a:t>
            </a:r>
            <a:r>
              <a:rPr sz="1200" b="0">
                <a:solidFill>
                  <a:srgbClr val="93A9C8"/>
                </a:solidFill>
                <a:latin typeface="Consolas"/>
              </a:rPr>
              <a:t>sub-second · </a:t>
            </a:r>
            <a:r>
              <a:rPr sz="1200" b="1">
                <a:solidFill>
                  <a:srgbClr val="8AB6FF"/>
                </a:solidFill>
                <a:latin typeface="Consolas"/>
              </a:rPr>
              <a:t>Cloud CPU </a:t>
            </a:r>
            <a:r>
              <a:rPr sz="1200" b="0">
                <a:solidFill>
                  <a:srgbClr val="93A9C8"/>
                </a:solidFill>
                <a:latin typeface="Consolas"/>
              </a:rPr>
              <a:t>3-8 s · </a:t>
            </a:r>
            <a:r>
              <a:rPr sz="1200" b="1">
                <a:solidFill>
                  <a:srgbClr val="8AB6FF"/>
                </a:solidFill>
                <a:latin typeface="Consolas"/>
              </a:rPr>
              <a:t>Free 16 GB container </a:t>
            </a:r>
            <a:r>
              <a:rPr sz="1200" b="0">
                <a:solidFill>
                  <a:srgbClr val="93A9C8"/>
                </a:solidFill>
                <a:latin typeface="Consolas"/>
              </a:rPr>
              <a:t>, evaluation. Docker bakes all models in; no runtime downloads.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809F"/>
                </a:solidFill>
                <a:latin typeface="Consolas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28016" cy="310896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6634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AB6FF"/>
                </a:solidFill>
                <a:latin typeface="Consolas"/>
              </a:rPr>
              <a:t>11 · ROADMAP, TRL 5 →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F0FF"/>
                </a:solidFill>
                <a:latin typeface="Arial"/>
              </a:rPr>
              <a:t>The generators improve. So does the shield.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51560" cy="201168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3969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B6FF"/>
                </a:solidFill>
                <a:latin typeface="Consolas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47088" y="1920240"/>
            <a:ext cx="1051560" cy="201168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47088" y="213969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B6FF"/>
                </a:solidFill>
                <a:latin typeface="Consola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54096" y="1920240"/>
            <a:ext cx="1051560" cy="201168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4096" y="213969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B6FF"/>
                </a:solidFill>
                <a:latin typeface="Consolas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1104" y="1920240"/>
            <a:ext cx="1051560" cy="201168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1104" y="213969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B6FF"/>
                </a:solidFill>
                <a:latin typeface="Consolas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68112" y="1920240"/>
            <a:ext cx="1051560" cy="201168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68112" y="213969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B6FF"/>
                </a:solidFill>
                <a:latin typeface="Consolas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920240"/>
            <a:ext cx="1051560" cy="201168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13969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809F"/>
                </a:solidFill>
                <a:latin typeface="Consolas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82127" y="1920240"/>
            <a:ext cx="1051560" cy="201168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213969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809F"/>
                </a:solidFill>
                <a:latin typeface="Consolas"/>
              </a:rPr>
              <a:t>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9136" y="1920240"/>
            <a:ext cx="1051560" cy="201168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9136" y="213969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809F"/>
                </a:solidFill>
                <a:latin typeface="Consolas"/>
              </a:rPr>
              <a:t>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96144" y="1920240"/>
            <a:ext cx="1051560" cy="201168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96144" y="213969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809F"/>
                </a:solidFill>
                <a:latin typeface="Consolas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4688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3A9C8"/>
                </a:solidFill>
                <a:latin typeface="Consolas"/>
              </a:rPr>
              <a:t>TRL-5 today (validated working system) → target TRL-9 (national production).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063240"/>
            <a:ext cx="2468880" cy="512064"/>
          </a:xfrm>
          <a:prstGeom prst="roundRect">
            <a:avLst>
              <a:gd name="adj" fmla="val 6000"/>
            </a:avLst>
          </a:prstGeom>
          <a:solidFill>
            <a:srgbClr val="11213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063240"/>
            <a:ext cx="22860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2C55E"/>
                </a:solidFill>
                <a:latin typeface="Consolas"/>
              </a:rPr>
              <a:t>SHIPPED · TRL-5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063240"/>
            <a:ext cx="8229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3A9C8"/>
                </a:solidFill>
                <a:latin typeface="Arial"/>
              </a:rPr>
              <a:t>5-model fusion 5.9% EER · fairness 10 langs · liveness · live call · Docker + audit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685032"/>
            <a:ext cx="2468880" cy="512064"/>
          </a:xfrm>
          <a:prstGeom prst="roundRect">
            <a:avLst>
              <a:gd name="adj" fmla="val 6000"/>
            </a:avLst>
          </a:prstGeom>
          <a:solidFill>
            <a:srgbClr val="11213A"/>
          </a:solidFill>
          <a:ln w="12700">
            <a:solidFill>
              <a:srgbClr val="8A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685032"/>
            <a:ext cx="22860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8AB6FF"/>
                </a:solidFill>
                <a:latin typeface="Consolas"/>
              </a:rPr>
              <a:t>0-3 mo → TRL-6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685032"/>
            <a:ext cx="8229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3A9C8"/>
                </a:solidFill>
                <a:latin typeface="Arial"/>
              </a:rPr>
              <a:t>ONNX-quantised AASIST-L for CPU streaming · bank-sandbox pilot on recorded IVR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306824"/>
            <a:ext cx="2468880" cy="512064"/>
          </a:xfrm>
          <a:prstGeom prst="roundRect">
            <a:avLst>
              <a:gd name="adj" fmla="val 6000"/>
            </a:avLst>
          </a:prstGeom>
          <a:solidFill>
            <a:srgbClr val="11213A"/>
          </a:solidFill>
          <a:ln w="12700">
            <a:solidFill>
              <a:srgbClr val="8A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306824"/>
            <a:ext cx="22860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8AB6FF"/>
                </a:solidFill>
                <a:latin typeface="Consolas"/>
              </a:rPr>
              <a:t>3-6 mo → TRL-7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4306824"/>
            <a:ext cx="8229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3A9C8"/>
                </a:solidFill>
                <a:latin typeface="Arial"/>
              </a:rPr>
              <a:t>Indic fine-tuning (Telugu first) · continual learning · live-traffic shadow deploy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928616"/>
            <a:ext cx="2468880" cy="512064"/>
          </a:xfrm>
          <a:prstGeom prst="roundRect">
            <a:avLst>
              <a:gd name="adj" fmla="val 6000"/>
            </a:avLst>
          </a:prstGeom>
          <a:solidFill>
            <a:srgbClr val="11213A"/>
          </a:solidFill>
          <a:ln w="12700">
            <a:solidFill>
              <a:srgbClr val="8A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928616"/>
            <a:ext cx="22860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8AB6FF"/>
                </a:solidFill>
                <a:latin typeface="Consolas"/>
              </a:rPr>
              <a:t>6-12 mo → TRL-8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4928616"/>
            <a:ext cx="8229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3A9C8"/>
                </a:solidFill>
                <a:latin typeface="Arial"/>
              </a:rPr>
              <a:t>Source attribution · adversarial-robust training · regulator-ready audit pack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50408"/>
            <a:ext cx="2468880" cy="512064"/>
          </a:xfrm>
          <a:prstGeom prst="roundRect">
            <a:avLst>
              <a:gd name="adj" fmla="val 6000"/>
            </a:avLst>
          </a:prstGeom>
          <a:solidFill>
            <a:srgbClr val="11213A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550408"/>
            <a:ext cx="22860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B82F6"/>
                </a:solidFill>
                <a:latin typeface="Consolas"/>
              </a:rPr>
              <a:t>12 mo+ → TRL-9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5550408"/>
            <a:ext cx="8229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3A9C8"/>
                </a:solidFill>
                <a:latin typeface="Arial"/>
              </a:rPr>
              <a:t>Multi-bank rollout · toward all 22 languages · shared fraud-signal exchange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3093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B82F6"/>
                </a:solidFill>
                <a:latin typeface="Consolas"/>
              </a:rPr>
              <a:t>▸  </a:t>
            </a:r>
            <a:r>
              <a:rPr sz="1000" b="0">
                <a:solidFill>
                  <a:srgbClr val="64809F"/>
                </a:solidFill>
                <a:latin typeface="Consolas"/>
              </a:rPr>
              <a:t>TRL-5 is measured. Phases 1-4 are engineering plans with target windows, nothing beyond TRL-5 is claimed as done.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809F"/>
                </a:solidFill>
                <a:latin typeface="Consolas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28016" cy="310896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6634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AB6FF"/>
                </a:solidFill>
                <a:latin typeface="Consolas"/>
              </a:rPr>
              <a:t>12 · 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8F0FF"/>
                </a:solidFill>
                <a:latin typeface="Arial"/>
              </a:rPr>
              <a:t>Fund the pilot. Harden for India.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28016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8AB6FF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8F0FF"/>
                </a:solidFill>
                <a:latin typeface="Arial"/>
              </a:rPr>
              <a:t>Deploy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3A9C8"/>
                </a:solidFill>
                <a:latin typeface="Arial"/>
              </a:rPr>
              <a:t>Bank-sandbox pilot on recorded IVR traffic, prove the false-positive budget on real calls.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210312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2103120"/>
            <a:ext cx="128016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331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8AB6FF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8803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8F0FF"/>
                </a:solidFill>
                <a:latin typeface="Arial"/>
              </a:rPr>
              <a:t>Harden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329184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3A9C8"/>
                </a:solidFill>
                <a:latin typeface="Arial"/>
              </a:rPr>
              <a:t>Indic fine-tuning + continual learning to push fairness further and track new generators.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10312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0D1B30"/>
          </a:solidFill>
          <a:ln w="12700">
            <a:solidFill>
              <a:srgbClr val="1E2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2103120"/>
            <a:ext cx="128016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2331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8AB6FF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8803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8F0FF"/>
                </a:solidFill>
                <a:latin typeface="Arial"/>
              </a:rPr>
              <a:t>Certify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329184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3A9C8"/>
                </a:solidFill>
                <a:latin typeface="Arial"/>
              </a:rPr>
              <a:t>Regulator-ready audit pack: model cards, published fairness, decision logs → procurement.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754880"/>
            <a:ext cx="10927080" cy="1097280"/>
          </a:xfrm>
          <a:prstGeom prst="roundRect">
            <a:avLst>
              <a:gd name="adj" fmla="val 6000"/>
            </a:avLst>
          </a:prstGeom>
          <a:solidFill>
            <a:srgbClr val="11213A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8AB6FF"/>
                </a:solidFill>
                <a:latin typeface="Arial"/>
              </a:rPr>
              <a:t>Why now: </a:t>
            </a:r>
            <a:r>
              <a:rPr sz="1500" b="0">
                <a:solidFill>
                  <a:srgbClr val="E8F0FF"/>
                </a:solidFill>
                <a:latin typeface="Arial"/>
              </a:rPr>
              <a:t>a working TRL-5 system, an honest fairness moat, and a voice-first banking market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8F0FF"/>
                </a:solidFill>
                <a:latin typeface="Arial"/>
              </a:rPr>
              <a:t>that is under active attack today. Detection, fairness and liveness, one honest defence, ready to pilot.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809F"/>
                </a:solidFill>
                <a:latin typeface="Consolas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B82F6"/>
                </a:solidFill>
                <a:latin typeface="Consola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560320"/>
            <a:ext cx="11155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8AB6FF"/>
                </a:solidFill>
                <a:latin typeface="Arial"/>
              </a:rPr>
              <a:t>Detection. </a:t>
            </a:r>
            <a:r>
              <a:rPr sz="4600" b="1">
                <a:solidFill>
                  <a:srgbClr val="22C55E"/>
                </a:solidFill>
                <a:latin typeface="Arial"/>
              </a:rPr>
              <a:t>Fairness. </a:t>
            </a:r>
            <a:r>
              <a:rPr sz="4600" b="1">
                <a:solidFill>
                  <a:srgbClr val="F59E0B"/>
                </a:solidFill>
                <a:latin typeface="Arial"/>
              </a:rPr>
              <a:t>Liveness.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93A9C8"/>
                </a:solidFill>
                <a:latin typeface="Arial"/>
              </a:rPr>
              <a:t>One layered, honest defence for India's voice-first banking future.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F0FF"/>
                </a:solidFill>
                <a:latin typeface="Arial"/>
              </a:rPr>
              <a:t>VoxShield, Team DigiSeva · SRM Institute of Science and Technology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809F"/>
                </a:solidFill>
                <a:latin typeface="Consolas"/>
              </a:rPr>
              <a:t>UCO Bank · Punjab &amp; Sind Bank · IIT Kharagpur, PS2 · Audio Forensics for Voice Security · TRL-5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809F"/>
                </a:solidFill>
                <a:latin typeface="Consolas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